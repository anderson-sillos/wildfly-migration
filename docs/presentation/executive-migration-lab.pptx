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5e8c910174d69" /><Relationship Type="http://schemas.openxmlformats.org/officeDocument/2006/relationships/extended-properties" Target="/docProps/app.xml" Id="R2ee20d6d48384563" /><Relationship Type="http://schemas.openxmlformats.org/officeDocument/2006/relationships/officeDocument" Target="/ppt/presentation.xml" Id="R280c03a43e2c4d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84773bed70471a"/>
  </p:sldMasterIdLst>
  <p:notesMasterIdLst>
    <p:notesMasterId xmlns:r="http://schemas.openxmlformats.org/officeDocument/2006/relationships" r:id="Rb9232b7075fe4495"/>
  </p:notesMasterIdLst>
  <p:sldIdLst>
    <p:sldId xmlns:r="http://schemas.openxmlformats.org/officeDocument/2006/relationships" id="256" r:id="Rb2fb502c76644929"/>
    <p:sldId xmlns:r="http://schemas.openxmlformats.org/officeDocument/2006/relationships" id="257" r:id="R9e88167ae7f54a85"/>
    <p:sldId xmlns:r="http://schemas.openxmlformats.org/officeDocument/2006/relationships" id="258" r:id="R8dc5b0e71cea4d17"/>
    <p:sldId xmlns:r="http://schemas.openxmlformats.org/officeDocument/2006/relationships" id="259" r:id="R4ac05eda36b3479f"/>
    <p:sldId xmlns:r="http://schemas.openxmlformats.org/officeDocument/2006/relationships" id="260" r:id="R264a5e9fff9d49ff"/>
    <p:sldId xmlns:r="http://schemas.openxmlformats.org/officeDocument/2006/relationships" id="261" r:id="Rea7cc97fdbc944e1"/>
    <p:sldId xmlns:r="http://schemas.openxmlformats.org/officeDocument/2006/relationships" id="262" r:id="Rdc5bec3a2e4d45b5"/>
    <p:sldId xmlns:r="http://schemas.openxmlformats.org/officeDocument/2006/relationships" id="263" r:id="R16e69d3e7bc940d6"/>
    <p:sldId xmlns:r="http://schemas.openxmlformats.org/officeDocument/2006/relationships" id="264" r:id="Re00e1adf02e04874"/>
    <p:sldId xmlns:r="http://schemas.openxmlformats.org/officeDocument/2006/relationships" id="265" r:id="R256c9d9c64b148af"/>
    <p:sldId xmlns:r="http://schemas.openxmlformats.org/officeDocument/2006/relationships" id="266" r:id="R127c36dc37384e48"/>
    <p:sldId xmlns:r="http://schemas.openxmlformats.org/officeDocument/2006/relationships" id="267" r:id="Ra06b650c5896465a"/>
    <p:sldId xmlns:r="http://schemas.openxmlformats.org/officeDocument/2006/relationships" id="268" r:id="Rc405cda8c66f40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03d67e2b684274" /><Relationship Type="http://schemas.openxmlformats.org/officeDocument/2006/relationships/slideMaster" Target="/ppt/slideMasters/slideMaster1.xml" Id="R9484773bed70471a" /><Relationship Type="http://schemas.openxmlformats.org/officeDocument/2006/relationships/notesMaster" Target="/ppt/notesMasters/notesMaster1.xml" Id="Rb9232b7075fe4495" /><Relationship Type="http://schemas.openxmlformats.org/officeDocument/2006/relationships/presProps" Target="/ppt/presProps.xml" Id="Ra767a6f5638f4c7c" /><Relationship Type="http://schemas.openxmlformats.org/officeDocument/2006/relationships/tableStyles" Target="/ppt/tableStyles.xml" Id="Rf2047585c623442b" /><Relationship Type="http://schemas.openxmlformats.org/officeDocument/2006/relationships/slide" Target="/ppt/slides/slide1.xml" Id="Rb2fb502c76644929" /><Relationship Type="http://schemas.openxmlformats.org/officeDocument/2006/relationships/slide" Target="/ppt/slides/slide2.xml" Id="R9e88167ae7f54a85" /><Relationship Type="http://schemas.openxmlformats.org/officeDocument/2006/relationships/slide" Target="/ppt/slides/slide3.xml" Id="R8dc5b0e71cea4d17" /><Relationship Type="http://schemas.openxmlformats.org/officeDocument/2006/relationships/slide" Target="/ppt/slides/slide4.xml" Id="R4ac05eda36b3479f" /><Relationship Type="http://schemas.openxmlformats.org/officeDocument/2006/relationships/slide" Target="/ppt/slides/slide5.xml" Id="R264a5e9fff9d49ff" /><Relationship Type="http://schemas.openxmlformats.org/officeDocument/2006/relationships/slide" Target="/ppt/slides/slide6.xml" Id="Rea7cc97fdbc944e1" /><Relationship Type="http://schemas.openxmlformats.org/officeDocument/2006/relationships/slide" Target="/ppt/slides/slide7.xml" Id="Rdc5bec3a2e4d45b5" /><Relationship Type="http://schemas.openxmlformats.org/officeDocument/2006/relationships/slide" Target="/ppt/slides/slide8.xml" Id="R16e69d3e7bc940d6" /><Relationship Type="http://schemas.openxmlformats.org/officeDocument/2006/relationships/slide" Target="/ppt/slides/slide9.xml" Id="Re00e1adf02e04874" /><Relationship Type="http://schemas.openxmlformats.org/officeDocument/2006/relationships/slide" Target="/ppt/slides/slide10.xml" Id="R256c9d9c64b148af" /><Relationship Type="http://schemas.openxmlformats.org/officeDocument/2006/relationships/slide" Target="/ppt/slides/slide11.xml" Id="R127c36dc37384e48" /><Relationship Type="http://schemas.openxmlformats.org/officeDocument/2006/relationships/slide" Target="/ppt/slides/slide12.xml" Id="Ra06b650c5896465a" /><Relationship Type="http://schemas.openxmlformats.org/officeDocument/2006/relationships/slide" Target="/ppt/slides/slide13.xml" Id="Rc405cda8c66f40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0507ce6b8a4c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0289ce8f9b498e" /><Relationship Type="http://schemas.openxmlformats.org/officeDocument/2006/relationships/notesMaster" Target="/ppt/notesMasters/notesMaster1.xml" Id="R8a47b1856c1e4b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a36ef234047e3" /><Relationship Type="http://schemas.openxmlformats.org/officeDocument/2006/relationships/notesMaster" Target="/ppt/notesMasters/notesMaster1.xml" Id="R31927dcf276a40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ae1ff7117541e0" /><Relationship Type="http://schemas.openxmlformats.org/officeDocument/2006/relationships/notesMaster" Target="/ppt/notesMasters/notesMaster1.xml" Id="Rcbf4f79832294c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a11d6b28ca4cc9" /><Relationship Type="http://schemas.openxmlformats.org/officeDocument/2006/relationships/notesMaster" Target="/ppt/notesMasters/notesMaster1.xml" Id="R84a1854750e34c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591fbcb2274c4a" /><Relationship Type="http://schemas.openxmlformats.org/officeDocument/2006/relationships/notesMaster" Target="/ppt/notesMasters/notesMaster1.xml" Id="R9d98679eece84f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d77f05ff045fd" /><Relationship Type="http://schemas.openxmlformats.org/officeDocument/2006/relationships/notesMaster" Target="/ppt/notesMasters/notesMaster1.xml" Id="R9f6809e91d9944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f0c73dd6614ab6" /><Relationship Type="http://schemas.openxmlformats.org/officeDocument/2006/relationships/notesMaster" Target="/ppt/notesMasters/notesMaster1.xml" Id="R30f12ab3d5ff49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675fa868a74c5a" /><Relationship Type="http://schemas.openxmlformats.org/officeDocument/2006/relationships/notesMaster" Target="/ppt/notesMasters/notesMaster1.xml" Id="R6bffa521d58c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2bcf7d99e34e21" /><Relationship Type="http://schemas.openxmlformats.org/officeDocument/2006/relationships/notesMaster" Target="/ppt/notesMasters/notesMaster1.xml" Id="Rb2b8b2decf144f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cc9f983193422a" /><Relationship Type="http://schemas.openxmlformats.org/officeDocument/2006/relationships/notesMaster" Target="/ppt/notesMasters/notesMaster1.xml" Id="R6dcaae4da28648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e919bc53304ee8" /><Relationship Type="http://schemas.openxmlformats.org/officeDocument/2006/relationships/notesMaster" Target="/ppt/notesMasters/notesMaster1.xml" Id="Ra74dd24709694e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da85089a064fb3" /><Relationship Type="http://schemas.openxmlformats.org/officeDocument/2006/relationships/notesMaster" Target="/ppt/notesMasters/notesMaster1.xml" Id="R59bbd59debed49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d6559bc7e84372" /><Relationship Type="http://schemas.openxmlformats.org/officeDocument/2006/relationships/notesMaster" Target="/ppt/notesMasters/notesMaster1.xml" Id="R717799f288c045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0min30s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 no laboratório: uma aplicação web representativa evoluiu de Java 7 e WildFly 9 para OpenJDK 25, WildFly 41 e Jakarta EE 11, preservando seus contratos por uma migração incremental e verificável.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Abrir com a tese e antecipar as três partes: por que o legado exige ação, o que o laboratório comprovou e como iniciar uma aplicação real. Não detalhar bibliotecas neste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https://github.com/anderson-sillos/wildfly-migration/blob/main/docs/evidence/CP-3K.md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Recomendação: manter uma plataforma que inicia não significa manter uma plataforma sustentável; ciclo de vida, compatibilidade e capacidade de atualização precisam ser avaliados em conjunto.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Não ler a tabela inteira. Destacar três linhas: WildFly 8–9 como legado, 25–26.1 como ponte compatível com Java 8/11/17 e APIs javax, e 40–41 como destino Jakarta EE 11 com Java 25 preferido. Explicar que Rec. descreve preferência de runtime, não certificação TCK no mesmo JDK. A matriz é uma fotografia histórica e deve ser verificada novamente antes de uma decisão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https://github.com/anderson-sillos/wildfly-migration/blob/main/docs/wildfly-java-compatibility.md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Comprovado: congelar um baseline, executar o último estado aprovado no próximo runtime e separar riscos em gates controlados tornou as incompatibilidades diagnosticáveis e o avanço reversível.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Estado verde é uma versão integrada, reconstruível e aprovada pelos critérios daquele ponto. A proposta não é multiplicar ambientes sem necessidade; é separar riscos suficientes para que uma falha tenha causa investigável e um retorno conhecido.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https://github.com/anderson-sillos/wildfly-migration/blob/main/openspec/specs/migration-compatibility-lab/spec.md</a:t>
            </a:r>
          </a:p>
          <a:p xmlns:a="http://schemas.openxmlformats.org/drawingml/2006/main">
            <a:r>
              <a:t>- https://github.com/anderson-sillos/wildfly-migration/blob/main/docs/checkpoints.md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 no projeto: planejamento, código, scripts, documentação e evidências foram construídos com o Codex, enquanto especificações, testes e aprovações humanas mantiveram direção e controle.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SDD significa Specification-Driven Development: a especificação guia a implementação e fornece critérios verificáveis. OpenSpec organizou intenção, decisões, requisitos e tarefas; não substitui Git, CI ou testes. Integralmente construído com IA significa que os artefatos foram produzidos na interação com o Codex, não que a IA decidiu sozinha.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https://github.com/anderson-sillos/wildfly-migration/blob/main/docs/codex-handoff.md</a:t>
            </a:r>
          </a:p>
          <a:p xmlns:a="http://schemas.openxmlformats.org/drawingml/2006/main">
            <a:r>
              <a:t>- https://github.com/anderson-sillos/wildfly-migration/blob/main/openspec/changes/archive/2026-08-07-create-java-web-migration-lab/</a:t>
            </a:r>
          </a:p>
          <a:p xmlns:a="http://schemas.openxmlformats.org/drawingml/2006/main">
            <a:r>
              <a:t>- https://github.com/anderson-sillos/wildfly-migration/blob/main/openspec/specs/</a:t>
            </a:r>
          </a:p>
          <a:p xmlns:a="http://schemas.openxmlformats.org/drawingml/2006/main">
            <a:r>
              <a:t>- https://github.com/anderson-sillos/wildfly-migration/blob/main/docs/github-workflow.md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Comprovado: as três fases separaram conhecimento do legado, modernização de baixo impacto e ruptura arquitetural, evitando que todos os riscos aparecessem no mesmo salto.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A fase 1 compra conhecimento; a fase 2 reduz risco operacional sem reescrever namespaces; a fase 3 executa a ruptura necessária com bases mais estáveis. Java 17 e 21 foram gates técnicos da fase final. Em uma aplicação real, a ponte pode ser apenas um gate de engenharia se a plataforma intermediária não for adequada para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https://github.com/anderson-sillos/wildfly-migration/blob/main/docs/evidence/CP-3K.md</a:t>
            </a:r>
          </a:p>
          <a:p xmlns:a="http://schemas.openxmlformats.org/drawingml/2006/main">
            <a:r>
              <a:t>- https://github.com/anderson-sillos/wildfly-migration/blob/main/docs/checkpoints.md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Comprovado: a aplicação preservou o comportamento essencial até o destino final e foi qualificada por trilhas independentes, com limites explicitamente registrados.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Separar velocidade de feedback e qualificação oficial. H2 acelera, mas não substitui Oracle. O valor da prova está em saber exatamente qual comportamento foi exercitado, em qual runtime, com qual artefato e banco — e também o que permaneceu fora do escopo.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https://github.com/anderson-sillos/wildfly-migration/blob/main/docs/evidence/CP-3K.md</a:t>
            </a:r>
          </a:p>
          <a:p xmlns:a="http://schemas.openxmlformats.org/drawingml/2006/main">
            <a:r>
              <a:t>- https://github.com/anderson-sillos/wildfly-migration/blob/main/migration/evidence/CP-3K/reproduction-ci-h2.json</a:t>
            </a:r>
          </a:p>
          <a:p xmlns:a="http://schemas.openxmlformats.org/drawingml/2006/main">
            <a:r>
              <a:t>- https://github.com/anderson-sillos/wildfly-migration/blob/main/migration/evidence/CP-3K/reproduction-oracle.json</a:t>
            </a:r>
          </a:p>
          <a:p xmlns:a="http://schemas.openxmlformats.org/drawingml/2006/main">
            <a:r>
              <a:t>- https://github.com/anderson-sillos/wildfly-migration/blob/main/migration/evidence/CP-3K/closure.properties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Comprovado: 27 incompatibilidades alcançaram ambiente, build, código, namespace, servidor, classloader, configuração, XML e banco; cada correção foi ligada à falha anterior e a uma prova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Um salto direto poderia apresentar um único deployment quebrado escondendo causas diferentes. O catálogo permite reaproveitar sinais e estratégias durante o inventário de outra aplicação.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https://github.com/anderson-sillos/wildfly-migration/blob/main/migration/incompatibility-catalog.md</a:t>
            </a:r>
          </a:p>
          <a:p xmlns:a="http://schemas.openxmlformats.org/drawingml/2006/main">
            <a:r>
              <a:t>- https://github.com/anderson-sillos/wildfly-migration/blob/main/migration/incompatibilities.tsv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Comprovado: runtime e configuração são parte da entrega; as decisões de plataforma foram versionadas, auditadas e qualificadas por fase.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Destacar Java, WildFly e Oracle. A decisão mais importante foi não colocar seleção de banco ou pool no código da aplicação. O JNDI permaneceu estável enquanto driver, módulo e servidor evoluíram.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https://github.com/anderson-sillos/wildfly-migration/blob/main/docs/evidence/CP-3K.md</a:t>
            </a:r>
          </a:p>
          <a:p xmlns:a="http://schemas.openxmlformats.org/drawingml/2006/main">
            <a:r>
              <a:t>- https://github.com/anderson-sillos/wildfly-migration/blob/main/docs/environment-setup.md</a:t>
            </a:r>
          </a:p>
          <a:p xmlns:a="http://schemas.openxmlformats.org/drawingml/2006/main">
            <a:r>
              <a:t>- https://github.com/anderson-sillos/wildfly-migration/blob/main/openspec/specs/wildfly-oracle-runtime/spec.md</a:t>
            </a:r>
          </a:p>
          <a:p xmlns:a="http://schemas.openxmlformats.org/drawingml/2006/main">
            <a:r>
              <a:t>- https://github.com/anderson-sillos/wildfly-migration/blob/main/docs/wildfly-java-compatibility.md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Comprovado: bibliotecas foram atualizadas quando mantidas, removidas quando duplicavam a plataforma e substituídas pelo contrato funcional quando estavam abandonadas ou incompatíveis com Jakarta.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Não ler as doze linhas. Destacar quatro padrões: atualizar componente mantido; remover API já fornecida; substituir biblioteca abandonada pelo contrato; manter driver e APIs do servidor fora do WAR. Usar FileUpload, Reflections e Log4j como exemplos.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https://github.com/anderson-sillos/wildfly-migration/blob/main/docs/evidence/CP-3K.md</a:t>
            </a:r>
          </a:p>
          <a:p xmlns:a="http://schemas.openxmlformats.org/drawingml/2006/main">
            <a:r>
              <a:t>- https://github.com/anderson-sillos/wildfly-migration/blob/main/migration/incompatibility-catalog.md</a:t>
            </a:r>
          </a:p>
          <a:p xmlns:a="http://schemas.openxmlformats.org/drawingml/2006/main">
            <a:r>
              <a:t>- https://github.com/anderson-sillos/wildfly-migration/blob/main/openspec/specs/modern-jakarta-webapp/spec.md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Recomendação: versões e quantidade de gates podem mudar; os controles de conhecimento, evidência e retorno não deveriam mudar.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O valor do laboratório não é recomendar versões históricas. É demonstrar uma disciplina: saber de onde se partiu, alterar riscos de forma isolada, provar o artefato real e manter uma opção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https://github.com/anderson-sillos/wildfly-migration/blob/main/openspec/specs/migration-compatibility-lab/spec.md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2min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Recomendação: iniciar por uma aplicação piloto e financiar primeiro conhecimento verificável — inventário e baseline — antes de assumir destino, cronograma ou janela de 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O primeiro compromisso não é migrar tudo: é produzir um diagnóstico confiável. Só depois do baseline a equipe consegue propor versões, número de gates, esforço, riscos residuais e alternativas de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https://github.com/anderson-sillos/wildfly-migration/blob/main/docs/phase2-real-application-migration-runbook.md</a:t>
            </a:r>
          </a:p>
          <a:p xmlns:a="http://schemas.openxmlformats.org/drawingml/2006/main">
            <a:r>
              <a:t>- https://github.com/anderson-sillos/wildfly-migration/blob/main/openspec/specs/migration-compatibility-lab/spec.md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Recomendação: promover somente quando cada gate tiver artefato imutável, comportamento aprovado, ambiente identificado, risco residual aceito e retorno ensaiado.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Gate é uma decisão, não apenas uma etapa técnica. Se a aplicação real usa recursos ausentes no laboratório, o roteiro ganha novos gates; não se força a aplicação a caber no exemplo.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https://github.com/anderson-sillos/wildfly-migration/blob/main/docs/phase2-real-application-migration-runbook.md</a:t>
            </a:r>
          </a:p>
          <a:p xmlns:a="http://schemas.openxmlformats.org/drawingml/2006/main">
            <a:r>
              <a:t>- https://github.com/anderson-sillos/wildfly-migration/blob/main/docs/evidence/CP-3K.md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Tempo-alvo: 1min30s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Mensagem central: Recomendação: autorizar uma etapa limitada de enquadramento e baseline para converter incerteza em evidência antes de decidir pela execução completa da migração.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do apresentador:</a:t>
            </a:r>
          </a:p>
          <a:p xmlns:a="http://schemas.openxmlformats.org/drawingml/2006/main">
            <a:r>
              <a:t>Fechar com uma decisão objetiva: aprovar descoberta e baseline do piloto, não uma migração cega. Prazo, custo e plano final serão apresentados depois dessa evidência, com alternativas e critérios de go/no-go.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https://raw.githubusercontent.com/anderson-sillos/wildfly-migration/refs/heads/main/docs/presentation/executive-migration-lab.md</a:t>
            </a:r>
          </a:p>
          <a:p xmlns:a="http://schemas.openxmlformats.org/drawingml/2006/main">
            <a:r>
              <a:t>- https://github.com/anderson-sillos/wildfly-migration/blob/main/docs/project-conclusion.md</a:t>
            </a:r>
          </a:p>
          <a:p xmlns:a="http://schemas.openxmlformats.org/drawingml/2006/main">
            <a:r>
              <a:t>- https://github.com/anderson-sillos/wildfly-migration/blob/main/docs/phase2-real-application-migration-runbook.md</a:t>
            </a:r>
          </a:p>
          <a:p xmlns:a="http://schemas.openxmlformats.org/drawingml/2006/main">
            <a:r>
              <a:t>- https://github.com/anderson-sillos/wildfly-migration/blob/main/docs/checkpoints.md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b42ffc4ee4f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016218ade04c6a" /><Relationship Type="http://schemas.openxmlformats.org/officeDocument/2006/relationships/slideLayout" Target="/ppt/slideLayouts/slideLayout1.xml" Id="R981c49c35e5d4d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1c49c35e5d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545a72fab4f3f" /><Relationship Type="http://schemas.openxmlformats.org/officeDocument/2006/relationships/notesSlide" Target="/ppt/notesSlides/notesSlide1.xml" Id="Reddbdc2bbaee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303fbaec9468c" /><Relationship Type="http://schemas.openxmlformats.org/officeDocument/2006/relationships/notesSlide" Target="/ppt/notesSlides/notesSlide2.xml" Id="R22c27bd6d58f4e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df6e1610d4984" /><Relationship Type="http://schemas.openxmlformats.org/officeDocument/2006/relationships/notesSlide" Target="/ppt/notesSlides/notesSlide3.xml" Id="R0c4ec9a95a53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badab43ed4a03" /><Relationship Type="http://schemas.openxmlformats.org/officeDocument/2006/relationships/notesSlide" Target="/ppt/notesSlides/notesSlide4.xml" Id="R4c02f5a6cb1b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411741ec547b4" /><Relationship Type="http://schemas.openxmlformats.org/officeDocument/2006/relationships/notesSlide" Target="/ppt/notesSlides/notesSlide5.xml" Id="Ra04f3c3b0b3343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6a29677794791" /><Relationship Type="http://schemas.openxmlformats.org/officeDocument/2006/relationships/notesSlide" Target="/ppt/notesSlides/notesSlide6.xml" Id="R6f312e4f864c43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e2853e20e43ea" /><Relationship Type="http://schemas.openxmlformats.org/officeDocument/2006/relationships/notesSlide" Target="/ppt/notesSlides/notesSlide7.xml" Id="R102bccc8685a4f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ce0abf2c94750" /><Relationship Type="http://schemas.openxmlformats.org/officeDocument/2006/relationships/notesSlide" Target="/ppt/notesSlides/notesSlide8.xml" Id="R17e6776dec7b43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0977acc3049c1" /><Relationship Type="http://schemas.openxmlformats.org/officeDocument/2006/relationships/notesSlide" Target="/ppt/notesSlides/notesSlide9.xml" Id="R42c1ddbe05fa4f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d8c4e9d514252" /><Relationship Type="http://schemas.openxmlformats.org/officeDocument/2006/relationships/notesSlide" Target="/ppt/notesSlides/notesSlide10.xml" Id="R373e1c161d394e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b27622ebf4077" /><Relationship Type="http://schemas.openxmlformats.org/officeDocument/2006/relationships/notesSlide" Target="/ppt/notesSlides/notesSlide11.xml" Id="R6fb9c294cd6e41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b27848b1248c4" /><Relationship Type="http://schemas.openxmlformats.org/officeDocument/2006/relationships/notesSlide" Target="/ppt/notesSlides/notesSlide12.xml" Id="Rc63db8f7fcc944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9951ab0e44398" /><Relationship Type="http://schemas.openxmlformats.org/officeDocument/2006/relationships/notesSlide" Target="/ppt/notesSlides/notesSlide13.xml" Id="R8290106331454b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C9A33-FF6C-4551-AA12-D69E560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LABORATÓRIO EXECUTIVO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8A619-EDDC-4D0A-84EF-FB6F46C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62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278BE-0B5A-446B-81B1-45C60302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19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Modernizar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7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com controle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7572B-6D46-4B47-857E-7201223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866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Do Java 7 e WildFly 9 ao OpenJDK 25, WildFly 41 e Jakarta EE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3DBE4-085F-4074-873E-10D8F7F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2EC29-D421-4EAF-8A0C-F7BAAD8F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UMA APLICAÇÃO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05E70-7F16-4049-AD2A-FF2375EE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TRÊS FASES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B8648-CC39-4260-95B5-F9C7D55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ESTADOS APROVADOS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0C814-3B46-4FF8-976A-9414B815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Preservar contratos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6E87F-C78D-4F37-901D-2FFA8E23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Separar os riscos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18F09-39DF-4C26-8570-C182FF9B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Provar e retornar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84090-BEC4-4026-83D1-46CCA50B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Aplicar o método primeiro a um piloto controlado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38EF4-F891-4F6B-A495-FC9F12B8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769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Agosto de 2026</a:t>
            </a:r>
          </a:p>
        </p:txBody>
      </p:sp>
    </p:spTree>
    <p:extLst>
      <p:ext uri="{BB962C8B-B14F-4D97-AF65-F5344CB8AC3E}">
        <p14:creationId xmlns:p14="http://schemas.microsoft.com/office/powerpoint/2010/main" val="20274592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Compatibilidade não ">
            <a:extLst xmlns:a="http://schemas.openxmlformats.org/drawingml/2006/main">
              <a:ext uri="{FF2B5EF4-FFF2-40B4-BE49-F238E27FC236}">
                <a16:creationId xmlns:a16="http://schemas.microsoft.com/office/drawing/2014/main" id="{A7C4391F-85DE-4E5B-B573-2B713808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Compatibilidade não é longevidade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A3B98-2F84-4B9F-A2C9-9E1337E0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6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29896-027A-4132-8397-C928EE8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RECOMENDAÇÃO PARA APLICAÇÃO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42E7E-4A3B-49E9-9DDB-03994F6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Legado funcional não equivale a plataforma sustentável: ciclo de vida, compatibilidade e capacidade de atualização precisam ser avaliados juntos.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568EB-B0E8-4464-9763-9134DF62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0490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Referência verificada em 30/07/2026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113919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762000"/>
                <a:gridCol w="762000"/>
                <a:gridCol w="762000"/>
                <a:gridCol w="762000"/>
                <a:gridCol w="762000"/>
                <a:gridCol w="762000"/>
                <a:gridCol w="5867400"/>
              </a:tblGrid>
              <a:tr h="31652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WildFly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Java 7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Java 8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Java 11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Java 17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Java 21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Java 25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Plataforma padrão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8–9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4232F"/>
                          </a:solidFill>
                          <a:latin typeface="Arial"/>
                          <a:ea typeface="Arial"/>
                          <a:cs typeface="Arial"/>
                        </a:rPr>
                        <a:t>Java EE 7</a:t>
                      </a:r>
                    </a:p>
                  </a:txBody>
                  <a:tcPr marL="66675" marR="66675" marT="28575" marB="28575">
                    <a:solidFill>
                      <a:srgbClr val="FDECEE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10–13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Java EE 7; EE 8 em prévia no 13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Java EE 8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15–24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Java EE 8; Jakarta EE 8 a partir do 17.0.1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25–26.1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Java EE 8 / Jakarta EE 8; APIs javax.*</a:t>
                      </a:r>
                    </a:p>
                  </a:txBody>
                  <a:tcPr marL="66675" marR="66675" marT="28575" marB="28575">
                    <a:solidFill>
                      <a:srgbClr val="FFF4D6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27–29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Jakarta EE 10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30–31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Aval.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Jakarta EE 10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Jakarta EE 10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33–34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Jakarta EE 10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35–37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N/Q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Jakarta EE 10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38–39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Aval.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Jakarta EE 10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40–41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Não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Sim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Rec.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Jakarta EE 11; variante EE 10 temporária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98C6E-3A80-425C-8F55-375F9CBC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293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Sim = qualificada/documentada · Rec. = JDK preferido · Aval. = funciona, ainda em avaliação · N/Q = não qualificada/documentada · Não = removida ou abaixo do mínimo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1491-2677-41DE-8C17-DF564A59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0A7AA-9CA5-4887-ABF0-C804A6FC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1 · PROBLEMA, PROPOSTA E PLANEJAMENTO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69454-C244-47F6-A438-24CEE6A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5151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itle-Estados verdes torna">
            <a:extLst xmlns:a="http://schemas.openxmlformats.org/drawingml/2006/main">
              <a:ext uri="{FF2B5EF4-FFF2-40B4-BE49-F238E27FC236}">
                <a16:creationId xmlns:a16="http://schemas.microsoft.com/office/drawing/2014/main" id="{3215C58A-D922-4230-A54A-EB748ED0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609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Estados verdes tornam cada falha diagnosticável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6B306-DEE7-4EE3-BE5D-219665F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7F072-56E2-4A50-B870-22A0D754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COMPROVADO NO 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03B87-9382-40BA-B78E-41035CD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Preservar primeiro o comportamento e mudar poucas dimensões por vez tornou cada avanço reversível.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F5496-042D-483A-8A58-96F7423A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76475"/>
            <a:ext cx="995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C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00F26-DE36-4EDE-9E45-49F32C07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81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49861-6691-4B82-978D-3241979A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81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F0258-2E6D-4A16-99D3-95CB3704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81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2A24D-739F-4D4F-939E-3501B97B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81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E4652-E837-4CF0-B32B-3C24F9B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1812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F2019-BD8A-4F22-A45B-8D4C36E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CCD36-3CD5-46A2-986D-62918ED7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2019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042BA-2223-4321-A2AB-3958F60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Baseline auditável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119E8-655F-409C-B429-EC7E3F5B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C0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9AFEE-C622-4780-904C-C2388482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Reproduzir o legado e congelar contratos, artefato e configuração.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7DF4B-CACD-4CA2-9806-FDA3D997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ACE50-3CC6-4FB0-83A6-FD3C5AE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2019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76411-0277-47B7-986E-FE646CF1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Falha natural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3564E-E365-4306-9ACA-C951363B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05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C0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0AD02-3143-4B81-A1A3-F55C792F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05225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Executar o último estado verde no próximo runtime antes de corrigir.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D95F8-72EE-4BD1-AF3E-E3BCE961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907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AF484-CB2C-420C-ADC7-5DC992E7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28900"/>
            <a:ext cx="2019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E52373-B47C-453E-8EE8-11940FB2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765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Gate isolado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395A1-9639-4A0F-A665-2A2B0CB8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05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C0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62F6E-CC6F-4163-B25A-F58764D7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05225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Separar JVM, servidor, dependências, Jakarta e banco.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2268EC-31AC-4B1A-8B00-4092B78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6B2C22-4739-49F9-B27F-7F7F7232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2019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609F0-6B85-42D1-844F-125F42E9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765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Mesmos contratos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9EBD14-5C0A-4B6F-A0D6-0229B76D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05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C0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12F89-A054-4B9E-B3FC-8D5C7AF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05225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Repetir CI portátil e qualificação no Oracle.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D0AD1D-773B-4494-B4F0-0825C362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EB330-AA08-4CA7-BA99-1565C2E2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28900"/>
            <a:ext cx="2019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48F73-9349-4A08-8E5A-5D42AF24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F9E0EB-ABB9-4AAA-8A2F-40F0331E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05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0F4609-79EF-4226-87E9-3D297E9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05225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Registrar evidência, limitações, aprovação e rollback.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EA699C-45B7-4839-993E-1B550413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3919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D30512-8ADB-45C8-A1C4-64FFFDFB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571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08D7F8-344E-4EC1-ACAC-424E8D29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ESTADO VERDE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2580F8-7B9E-4A35-BF69-124B97C5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1010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Versão integrada, reconstruível e aprovada pelos critérios daquele ponto — com uma causa investigável e um retorno conhecido.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4AB289-7F20-4FAA-A494-16E6F539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746C54-F5A9-4F92-91D0-1D6915C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1 · PROBLEMA, PROPOSTA E PLANEJAMENTO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FD2341-BB57-454F-B749-7C866586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1069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itle-IA acelerou; especif">
            <a:extLst xmlns:a="http://schemas.openxmlformats.org/drawingml/2006/main">
              <a:ext uri="{FF2B5EF4-FFF2-40B4-BE49-F238E27FC236}">
                <a16:creationId xmlns:a16="http://schemas.microsoft.com/office/drawing/2014/main" id="{7A285419-F9A2-47DE-9FD3-4996ABB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IA acelerou; especificações mantiveram controle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6ADA5-0D64-4CD2-A166-9243E17E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FF881-8E24-4567-B125-E7F05E22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COMPROVADO NO PROJETO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2FD0C-7F01-4251-9FCE-250272D2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7162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09368-0260-485E-B37F-D53C35B5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Codex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F2401-6B58-4136-B380-E8CBA92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764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Planejou, implementou, diagnosticou, documentou e executou validações.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D2DFB-A267-4379-AA30-9420702E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8"/>
              </a:spcAft>
              <a:buNone/>
              <a:defRPr sz="1425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Direção humana: </a:t>
            </a: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objetivos, revisão de decisões e aprovação de checkpoints.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8"/>
              </a:spcAft>
              <a:buNone/>
              <a:defRPr sz="1425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Acessos controlados: </a:t>
            </a: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credenciais e ambientes fornecidos sob responsabilidade humana.</a:t>
            </a:r>
          </a:p>
          <a:p xmlns:a="http://schemas.openxmlformats.org/drawingml/2006/main">
            <a:pPr marL="20" indent="-12" algn="l">
              <a:lnSpc>
                <a:spcPct val="108000"/>
              </a:lnSpc>
              <a:spcAft>
                <a:spcPts val="8"/>
              </a:spcAft>
              <a:buNone/>
              <a:defRPr sz="1425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Testes manuais: </a:t>
            </a: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execução e aceites complementaram a automação.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EB14F-03FC-4612-9677-06AC80FB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IA produziu os artefatos; pessoas mantiveram decisão e responsabilidade.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A70E7-2CDF-4437-919B-618DC419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SDD + OpenSpec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AE292-F75A-4BB8-B04A-A7353427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A especificação definiu o comportamento esperado antes da conclusão da implementação.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53E94-3BD5-4D7B-AA22-354335B4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194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E091C-93DD-4E41-9CB9-F8F26A15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718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D0DF4-56DF-41E4-AA20-009D786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71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Proposta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A6D0E-119E-478B-9ABB-CEC390D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por 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70E76-697A-4929-9EA5-E0944CEF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C1A69-EE95-44C1-9D72-BE81D1C7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E8585-3AD0-47F0-9F95-B5686A0F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147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0C7D7-2EC1-482F-BEDB-7DEE73DD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147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como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C6A4C-CC36-4EC0-9083-ABAAEE38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C4EC6-B4F0-4395-BDD3-7B94863B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B0D60-469C-43C3-9B92-EF81C88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57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Specs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263F5-D6E5-49DB-90EF-ED10BAC0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576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o que deve ser verdade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0C4FE-9891-4D4D-93CD-40CE90E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F23DE-D30E-4867-8E72-04ED444B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005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38FE7-DD78-4863-B557-9C51F119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005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A71B4-181E-4560-B447-7833629D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0057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092D6-C2C1-490A-A4DB-66C211DE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911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0FF9E-A957-46AE-8A34-B999B6D3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E7623-682B-4F45-BB51-53F84613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43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3C560-8AEE-44CA-B0E2-6CCEC37C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46BA2-050C-4171-BF66-2D0DE063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72150"/>
            <a:ext cx="521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824DF-7DE9-4944-8B00-25437407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721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15561C-8F96-49C2-8378-00125D9E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864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B89D9-BB3D-45AC-84C7-A8B83F3D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67400"/>
            <a:ext cx="3267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Velocidade de execução com rastreabilidade, revisão e evidência reproduzível.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438112-30CE-437A-9A69-5320F20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383261-4C1D-49A1-8D92-50F3BC92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1 · PROBLEMA, PROPOSTA E PLANEJAMENTO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AC3414-2CE0-42A8-AB05-FED4878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3256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Três fases separaram">
            <a:extLst xmlns:a="http://schemas.openxmlformats.org/drawingml/2006/main">
              <a:ext uri="{FF2B5EF4-FFF2-40B4-BE49-F238E27FC236}">
                <a16:creationId xmlns:a16="http://schemas.microsoft.com/office/drawing/2014/main" id="{32C1B090-FDAD-4EC4-9D06-D41C014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Três fases separaram estabilização e ruptura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EFE72-83EB-4B18-9CBA-ED818E9B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9D4E4-16C6-48E8-86FE-4E634C1D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COMPROVADO NO 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D4CFE-84DD-45F5-AE8F-7E0FB530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B0C0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747F8-9B4A-4990-ACAB-D7812C9F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5585A-2828-483D-B9BD-438275ED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14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8B43B-7D21-4440-9DE1-DF01E652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14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37F2C-4997-44E7-8210-D66F04B9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81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6DE0C-4CEE-4529-8D9E-5AA6EA3C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FASE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C8351-81EE-4035-908A-75446F0F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Baseline legado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513B3-1649-40F5-A562-72B32091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Java 7 · WildFly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55C80-64D9-4123-8C0E-300268A2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C0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6EA2A-E2FB-48B8-B341-AF930533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Reproduzir o estado inicial e congelar os contratos.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A9B3F-8D77-48BC-B29B-B0AE772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Compra conhecimento e elimina ambiguidade.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91A31-481B-4A9D-AD33-363094FF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19250"/>
            <a:ext cx="3581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8E2F8-4912-4309-A992-8AB2AA9C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FASE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89911-1590-4AB5-86FD-E5891792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955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Ponte de baixo impacto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795C3-058E-4AFB-B98F-883A083B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Java 8 · WildFly 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F3B1C-1A93-4E84-BC0E-408C0C69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6A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1F635-796A-482C-B5C9-58BC501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Preservar javax e isolar JVM e servidor.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ECE8-4997-403F-A6CF-E45F4A81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67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Cria um ponto de estabilização.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3A8EE-1CB2-4AD9-80EE-73A3F8C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581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6C0E0-AB24-463B-B7C0-C2D58EC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FASE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3F08D-7D69-49FE-8F8D-01135F1E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955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Destino final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ABA2F-EA89-4EFC-A8C8-4FA7980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OpenJDK 25 · WildFly 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5FC75-6DA2-464B-9A62-DB28178D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05834-E94C-4A48-BA44-2A055164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Modernizar dependências e migrar para Jakarta EE 11.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E7E45-3163-44F1-AC84-B8AEEEE9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672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Concentra a ruptura sobre bases conhecidas.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07A326-A9FC-460F-9215-302DB338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Java 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F155F-0DFE-4D72-BBDD-69C48F6A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Java 21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39CF18-2A47-4061-8F86-D0D99F10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816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gates técnicos da fase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58B79-2BCE-49B5-86E0-B3BF1A4E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1AAC9-C87E-41DA-A73A-0C2C8FA6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1 · PROBLEMA, PROPOSTA E PLANEJAMENTO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82EDBF-373F-4C8F-8D2F-5ECEB57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059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Destino final compro">
            <a:extLst xmlns:a="http://schemas.openxmlformats.org/drawingml/2006/main">
              <a:ext uri="{FF2B5EF4-FFF2-40B4-BE49-F238E27FC236}">
                <a16:creationId xmlns:a16="http://schemas.microsoft.com/office/drawing/2014/main" id="{1663E92C-26C0-4267-9EDA-7EA93403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Destino final comprovado, com limites explícitos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B6213-7D30-4F3E-A631-84242890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36C6A-C95A-4BF0-AA4C-E28F0B43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34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COMPROVADO NO 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25750-87CD-495F-8200-FC94225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O mesmo artefato foi qualificado por trilhas independentes, com runtime, banco e evidências identificados.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3E2D9-B22B-4743-BB30-50E8F263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E8F4-7654-493E-8DC2-17435DB7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1DAD3-AF65-4431-A042-96888A13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contratos preservados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033B4-4AF3-4F32-9B00-72F5D21A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Do baseline legado até a evolução final.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D9BF2-82D2-4CD9-99BF-45FBAD1D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583C3-988C-4BD4-BBCA-31B13905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15/15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B9D7A-44E4-4BB4-9C31-0DD59D70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cenários no destino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E8541-7E78-470F-8E35-7A4FC83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385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Inclui proteção de fragmentos web.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19FB1-E51E-410A-8C3B-CB20FB61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240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70763-18DD-415F-80B3-08E66CD6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6E0FB-1C4E-44E2-BE61-EB0B44BB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JDKs, o mesmo WAR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EBFAE-9BD0-474E-923F-D562B581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385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Executado em OpenJDK 21 e 25.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A1777-9A19-4701-B3BA-541C6DDB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TRILHA PORTÁTIL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CAE37-02E9-4383-9D6A-275AC78D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H2 · feedback rápido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126B6-3276-48BD-8342-3D4FB3D6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00600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QUALIFICAÇÃO OFICIAL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AC2E6-0BDE-4B9B-97EF-A5796253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48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Oracle 19c RU 19.3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CDDCD-0471-4A25-90D4-F03AC24A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REPRODUÇÃO FINAL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00B6D-17E0-4DA6-A66A-9778CF3C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Checkout limpo + auditoria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198BA-4090-4080-BBA7-06DDFD07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AFC8B-F3B9-4DFB-B04D-92BB0CDB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3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252B2-6AD3-4B6C-934F-6654469D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LIMITAÇÃO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F6FA50-6D94-46B3-9EB8-B5B81E26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15/15 comprova o escopo definido — não carga, cluster, failover, integrações não modeladas nem requisitos próprios de produção.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A2AEC-E90D-4464-A93C-055549E3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0A0B3-6FE1-494A-B0D1-973CCAF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2 · PROVAS, CORREÇÕES E APRENDIZADOS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0984F-E713-4D7B-80BD-B3BA28B9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7318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-As correções cobrira">
            <a:extLst xmlns:a="http://schemas.openxmlformats.org/drawingml/2006/main">
              <a:ext uri="{FF2B5EF4-FFF2-40B4-BE49-F238E27FC236}">
                <a16:creationId xmlns:a16="http://schemas.microsoft.com/office/drawing/2014/main" id="{D0FFF7DE-AD4A-424E-8738-9E756938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As correções cobriram toda a cadeia de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2702E-6DB0-4720-91BC-02D7B85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B3E9C-9A9C-49B2-A09B-45E63A25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COMPROVADO NO 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46DF7-AD80-4C26-9116-94B4DEF8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19250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8EADB-CA4F-4FEC-80C4-4100A512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94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5369A-D523-4078-98C4-04A4901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incompatibilidades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583FA-99BF-4476-BF98-A0A372AE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A variedade importa mais que a contagem.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35827-B441-4D28-976C-7E3AC007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0BF9B-4B7D-491F-840D-2C715A30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Ambiente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0DF35-0B80-4EC9-A340-B1E631A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07F8C-BC14-4F82-AD19-607507AF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22628-A660-4EC3-90B6-E54823B8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0F6B8-F15D-43A7-BF74-77E971E3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Código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BC0F7-2B75-43F7-A76A-C3E9B1CB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910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1C975-AA34-41BE-9071-C35F3164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Namespace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0A542-8D2D-4E86-8BD0-DE53EFE2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1956C-7A1E-44D8-845F-C64499C5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Servidor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97BEB-9D48-4008-BC9E-F860C8DE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911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CE300-5077-472A-99AD-C86299E0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Classloader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B0505-E7F6-4CE3-948E-CA67FDA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911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6EE4A-5957-420B-B657-8492C76C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XML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A1EF8-2EFD-4F36-B587-1441DDA6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9117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077B9-0B45-46DA-8CDB-F70D8370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673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Banco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6BE1B-D838-4698-9148-062C1B6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98640-B50B-414B-B358-304B5FD9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EFB3F-F30E-457B-A294-49C0A3E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145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Capturar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B92AAA-17DE-4FE8-84C7-C53F9E81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38350"/>
            <a:ext cx="588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Executar o último estado verde e registrar a falha natural.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0DBB4-597C-4CEB-84F5-0DF7D1B3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E6D62-A530-4882-8ABD-C25BB876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E97CD7-407F-4B88-90AF-06A6150B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146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Classificar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95686-C02F-436F-BB42-350D93DA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38450"/>
            <a:ext cx="588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Separar toolchain, deployment, dependência, segurança e persistência.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0C611A-62F3-459B-8780-AAEAA29E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B685E-024F-4059-A4E1-1A36110B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9F47C-72E8-4232-A4C3-466D721D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147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Corrigir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8983E1-43E1-40C2-9D62-D94B660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38550"/>
            <a:ext cx="588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Preservar o contrato funcional — não necessariamente a biblioteca antiga.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9008B8-488E-4510-8925-785737E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006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8BC3F5-7919-4214-8548-C91B46D5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44F176-264D-48E5-B0D9-75E5E5B0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148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Provar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B3C7F4-05A0-4B86-8396-4E5A9E81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38650"/>
            <a:ext cx="588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Repetir contratos e auditar o artefato realmente implantado.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A4DF9C-F174-4214-8872-9C2569A7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007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E9D387-ED18-4FB6-9707-2F7E444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149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728C32-6340-45CF-AFB0-9EE75F05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149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Documentar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6969E4-6069-4911-8213-2938FB1A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38750"/>
            <a:ext cx="588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Ligar causa, decisão, evidência, limitação e rollback.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D7AA52-5141-4226-BD34-17C8ADEB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62625"/>
            <a:ext cx="647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81E335-9900-4552-92F9-0DD4AA5B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62625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126CD0-6EE5-43B7-B2A6-61EF809B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8769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RASTREABILIDADE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90F341-44CB-4FDC-88C1-1AB7BA1D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857875"/>
            <a:ext cx="452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Falha anterior → correção aplicada → prova posterior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8B27A6-4BF7-479A-BE58-D78CAEDD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010B37-DC2C-4437-B326-8E250853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2 · PROVAS, CORREÇÕES E APRENDIZADOS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D81079-B5E0-4B9B-A5CB-6AEBC135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125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Runtime e configuraç">
            <a:extLst xmlns:a="http://schemas.openxmlformats.org/drawingml/2006/main">
              <a:ext uri="{FF2B5EF4-FFF2-40B4-BE49-F238E27FC236}">
                <a16:creationId xmlns:a16="http://schemas.microsoft.com/office/drawing/2014/main" id="{ABED5CEC-CAA8-484C-8C33-C77B66E8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Runtime e configuração integram a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22419-6005-4EA7-A9A9-1929E85A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AAD25-AF3F-416D-A4B7-EA1621D7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COMPROVADO NO 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BBB36-A84B-47B7-A57F-80A22D3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A fronteira da aplicação permaneceu estável; runtime, driver, pool e configuração evoluíram de forma versionada e auditável.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790700"/>
          <a:ext xmlns:a="http://schemas.openxmlformats.org/drawingml/2006/main" cx="11391900" cy="4324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809750"/>
                <a:gridCol w="3733800"/>
                <a:gridCol w="4467225"/>
              </a:tblGrid>
              <a:tr h="5405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Componente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Origem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 no laboratório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Destino e justificativa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Java</a:t>
                      </a:r>
                    </a:p>
                  </a:txBody>
                  <a:tcPr marL="66675" marR="66675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Oracle JDK 7u80</a:t>
                      </a:r>
                    </a:p>
                  </a:txBody>
                  <a:tcPr marL="66675" marR="66675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Gates 8, 17 e 21; JVM final isolada</a:t>
                      </a:r>
                    </a:p>
                  </a:txBody>
                  <a:tcPr marL="66675" marR="66675" marT="57150" marB="57150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Temurin OpenJDK 25; build final com --release 21</a:t>
                      </a:r>
                    </a:p>
                  </a:txBody>
                  <a:tcPr marL="66675" marR="66675" marT="57150" marB="57150">
                    <a:solidFill>
                      <a:srgbClr val="EAF4FF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Maven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3.8.9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Fixar a versão do Java 7; atualizar após estabilizar a ponte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Maven 3.9.16; Maven 4 RC evitado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WildFly</a:t>
                      </a:r>
                    </a:p>
                  </a:txBody>
                  <a:tcPr marL="66675" marR="66675" marT="57150" marB="57150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9.0.2</a:t>
                      </a:r>
                    </a:p>
                  </a:txBody>
                  <a:tcPr marL="66675" marR="66675" marT="57150" marB="57150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26.1.3 como ponte javax; 41 após o gate Jakarta</a:t>
                      </a:r>
                    </a:p>
                  </a:txBody>
                  <a:tcPr marL="66675" marR="66675" marT="57150" marB="57150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WildFly Community 41; exige atualização contínua</a:t>
                      </a:r>
                    </a:p>
                  </a:txBody>
                  <a:tcPr marL="66675" marR="66675" marT="57150" marB="57150">
                    <a:solidFill>
                      <a:srgbClr val="FFF4D6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Plataforma web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Java EE 7; Servlet 2.4 / JSP 2.0 / JSTL 1.2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Preservar javax na fase 2; migrar descritores e APIs em gate próprio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Jakarta EE Web Profile 11 em escopo provided</a:t>
                      </a:r>
                    </a:p>
                  </a:txBody>
                  <a:tcPr marL="66675" marR="66675" marT="57150" marB="57150">
                    <a:solidFill>
                      <a:srgbClr val="F8F8F9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H2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1.4.200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Feedback portátil; atualização conforme o gate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H2 2.4.240 em memória; não substitui Oracle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9734A"/>
                          </a:solidFill>
                          <a:latin typeface="Arial"/>
                          <a:ea typeface="Arial"/>
                          <a:cs typeface="Arial"/>
                        </a:rPr>
                        <a:t>Oracle</a:t>
                      </a:r>
                    </a:p>
                  </a:txBody>
                  <a:tcPr marL="66675" marR="66675" marT="57150" marB="57150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9734A"/>
                          </a:solidFill>
                          <a:latin typeface="Arial"/>
                          <a:ea typeface="Arial"/>
                          <a:cs typeface="Arial"/>
                        </a:rPr>
                        <a:t>Database 19c</a:t>
                      </a:r>
                    </a:p>
                  </a:txBody>
                  <a:tcPr marL="66675" marR="66675" marT="57150" marB="57150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9734A"/>
                          </a:solidFill>
                          <a:latin typeface="Arial"/>
                          <a:ea typeface="Arial"/>
                          <a:cs typeface="Arial"/>
                        </a:rPr>
                        <a:t>Banco oficial + schema descartável autorizado</a:t>
                      </a:r>
                    </a:p>
                  </a:txBody>
                  <a:tcPr marL="66675" marR="66675" marT="57150" marB="57150"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 b="1">
                          <a:solidFill>
                            <a:srgbClr val="19734A"/>
                          </a:solidFill>
                          <a:latin typeface="Arial"/>
                          <a:ea typeface="Arial"/>
                          <a:cs typeface="Arial"/>
                        </a:rPr>
                        <a:t>19c RU 19.3; segredos e driver externos</a:t>
                      </a:r>
                    </a:p>
                  </a:txBody>
                  <a:tcPr marL="66675" marR="66675" marT="57150" marB="57150">
                    <a:solidFill>
                      <a:srgbClr val="E8F6EF"/>
                    </a:solidFill>
                  </a:tcPr>
                </a:tc>
              </a:tr>
              <a:tr h="540544"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Datasource / JNDI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java:/jdbc/MigrationDS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Preservar a fronteira; reprovisionar por runtime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5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Mesmo JNDI; pool do servidor; teste de conexão em cada gate</a:t>
                      </a:r>
                    </a:p>
                  </a:txBody>
                  <a:tcPr marL="66675" marR="66675" marT="5715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EF347-9D67-46B5-B9B4-8A6B7E8A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277B0-7273-4D1F-A206-7C25D5F4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2 · PROVAS, CORREÇÕES E APRENDIZADOS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0A4873-F297-4953-ABB7-04387045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2902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Bibliotecas: preserv">
            <a:extLst xmlns:a="http://schemas.openxmlformats.org/drawingml/2006/main">
              <a:ext uri="{FF2B5EF4-FFF2-40B4-BE49-F238E27FC236}">
                <a16:creationId xmlns:a16="http://schemas.microsoft.com/office/drawing/2014/main" id="{3575EB87-F479-43AA-A955-FC8DA069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Bibliotecas: preservar contratos, não versões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66B4E-B0E5-4713-8D64-412C38C9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B5A41-18AD-4BE0-958C-43C5282E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34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COMPROVADO NO LABORATÓRIO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96A22-96BF-431A-A3F0-3B816E12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Atualizar componente mantido · remover API duplicada · substituir biblioteca abandonada · manter APIs e driver do servidor fora do WAR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667000"/>
                <a:gridCol w="6486525"/>
              </a:tblGrid>
              <a:tr h="337038"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Componente legado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Destino / contrato preservado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MyBatis 3.4.5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Atualizar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3.5.19; mesmos mapeamentos; logImpl=SLF4J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Log4j 1.2.14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Remover do WAR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SLF4J + JBoss LogManager; categorias, correlação e exceção preservadas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Commons FileUpload 1.2.2</a:t>
                      </a:r>
                    </a:p>
                  </a:txBody>
                  <a:tcPr marL="66675" marR="66675" marT="28575" marB="28575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Atualizar e remover</a:t>
                      </a:r>
                    </a:p>
                  </a:txBody>
                  <a:tcPr marL="66675" marR="66675" marT="28575" marB="28575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Multipart nativo com @MultipartConfig e Part; limites e metadados preservados</a:t>
                      </a:r>
                    </a:p>
                  </a:txBody>
                  <a:tcPr marL="66675" marR="66675" marT="28575" marB="28575">
                    <a:solidFill>
                      <a:srgbClr val="F3F8FF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Reflections 0.9.10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Atualizar e substituir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ServletContainerInitializer + @HandlesTypes; descoberta de validators preservada</a:t>
                      </a:r>
                    </a:p>
                  </a:txBody>
                  <a:tcPr marL="66675" marR="66675" marT="28575" marB="28575">
                    <a:solidFill>
                      <a:srgbClr val="EAF4FF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Tiles 2.1.4</a:t>
                      </a:r>
                    </a:p>
                  </a:txBody>
                  <a:tcPr marL="66675" marR="66675" marT="28575" marB="28575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Remover</a:t>
                      </a:r>
                    </a:p>
                  </a:txBody>
                  <a:tcPr marL="66675" marR="66675" marT="28575" marB="28575"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JSP tag files/includes protegidos; cabeçalho, conteúdo e rodapé preservados</a:t>
                      </a:r>
                    </a:p>
                  </a:txBody>
                  <a:tcPr marL="66675" marR="66675" marT="28575" marB="28575">
                    <a:solidFill>
                      <a:srgbClr val="F3F8FF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XMLBeans 2.3.0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Atualizar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5.3.0; fontes regeneradas de forma reproduzível a partir do XSD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dom4j 1.6.1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Atualizar e endurecer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2.2.0; rejeição de XXE e entidades externas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xml-apis 1.3.02</a:t>
                      </a:r>
                    </a:p>
                  </a:txBody>
                  <a:tcPr marL="66675" marR="66675" marT="28575" marB="28575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Remover duplicação</a:t>
                      </a:r>
                    </a:p>
                  </a:txBody>
                  <a:tcPr marL="66675" marR="66675" marT="28575" marB="28575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APIs fornecidas pelo módulo java.xml do JDK</a:t>
                      </a:r>
                    </a:p>
                  </a:txBody>
                  <a:tcPr marL="66675" marR="66675" marT="28575" marB="28575">
                    <a:solidFill>
                      <a:srgbClr val="F1F2F4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Geronimo StAX 1.0</a:t>
                      </a:r>
                    </a:p>
                  </a:txBody>
                  <a:tcPr marL="66675" marR="66675" marT="28575" marB="28575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Remover duplicação</a:t>
                      </a:r>
                    </a:p>
                  </a:txBody>
                  <a:tcPr marL="66675" marR="66675" marT="28575" marB="28575"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StAX fornecido pelo módulo java.xml do JDK</a:t>
                      </a:r>
                    </a:p>
                  </a:txBody>
                  <a:tcPr marL="66675" marR="66675" marT="28575" marB="28575">
                    <a:solidFill>
                      <a:srgbClr val="F1F2F4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ojdbc7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Substituir; fora do WAR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ojdbc17 23.26.2.0.0 como módulo do WildFly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Servlet/JSP/JSTL javax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Migrar no gate Jakarta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APIs Jakarta fornecidas pelo WildFly; JSTL compatível</a:t>
                      </a:r>
                    </a:p>
                  </a:txBody>
                  <a:tcPr marL="66675" marR="66675" marT="28575" marB="28575">
                    <a:solidFill>
                      <a:srgbClr val="FFFFFF"/>
                    </a:solidFill>
                  </a:tcPr>
                </a:tc>
              </a:tr>
              <a:tr h="3370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TLD / taglib 2.0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Migrar schema e handler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TLD 3.0 e tag handler Jakarta</a:t>
                      </a:r>
                    </a:p>
                  </a:txBody>
                  <a:tcPr marL="66675" marR="66675" marT="28575" marB="28575">
                    <a:solidFill>
                      <a:srgbClr val="F8F8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7FB68-CF88-4B97-9308-F6852E91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7A856-49F7-4C7B-A998-379306FB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2 · PROVAS, CORREÇÕES E APRENDIZADOS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F858B-F5BD-446D-A12E-D6E27538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14981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Os controles permane">
            <a:extLst xmlns:a="http://schemas.openxmlformats.org/drawingml/2006/main">
              <a:ext uri="{FF2B5EF4-FFF2-40B4-BE49-F238E27FC236}">
                <a16:creationId xmlns:a16="http://schemas.microsoft.com/office/drawing/2014/main" id="{23A7459D-9765-4062-8D77-47CF3FD0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Os controles permanecem; as versões mudam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C2E1C-DABC-47C8-8E58-69C82EA4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6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6E8B6-0A7A-4B0A-BE5B-935B49A9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RECOMENDAÇÃO PARA APLICAÇÃO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32509-520A-4846-B2CD-0FD5C0D4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383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2FBED-766D-46C6-9633-9AD0379D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930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930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AB7B1-F446-4BBE-A197-D4EA5C7B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controles duráveis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B43E4-E91C-411C-AA53-E442AC9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O laboratório não recomenda versões históricas; demonstra uma disciplina reutilizável.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757DD-739F-4538-9CC5-F623247F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3143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2C5CA-C26A-44DB-9B82-EEF09AC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B9749-A7B0-4877-96D8-A53A4C6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SÍNTESE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77DDC-7EBD-45FD-86FA-37A6C6EB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Saber de onde partiu, isolar riscos, provar o executável e manter retorno.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A140D-05B4-4B5D-8C83-A90ACFB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5243E-B192-47B7-A012-06BB5C9D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E137E-B870-4625-A6FC-5E679FB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38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Baseline primeiro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BEA09-5556-4774-939E-5933A963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812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Código, artefato, configuração e comportamento formam a primeira entrega.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C3225-04C1-424A-846B-9EBA9C25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B2B5E-F85E-4271-BA2D-22B25C4A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6E786-02CF-41A0-AD16-CAAB961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14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Uma dimensão por vez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F5766-E6B8-444A-A47D-4475B09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575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Gates menores preservam diagnóstico e revisão.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3AB53-97FA-4408-9A67-5205CAE8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E10C7-B2D6-464D-A615-FC60821E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D4C11-0EB1-4643-BE33-ACD829BA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90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Provar o executável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27C4D-C287-413F-B343-86651A6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338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Contratos externos e auditoria do WAR valem mais que ‘compilou’.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F2C2A-5475-4F7E-A41C-0DD9FFD9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93F66-7B7B-4DB4-AC79-CC559644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8B40A-27B9-479A-8194-98F76987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67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Feedback ≠ qualificação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5090F-4CBA-4C4D-9C75-A9BE9A84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01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H2 acelera; Oracle decide a persistência oficial.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198028-1768-4A6E-BD1B-7A1EC25E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B0E7A-658B-490D-AD3C-C4E5CE6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1A5696-12E0-4DA0-A57E-8AA4524E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14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Evidência e rollback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AE0E75-50BB-45B6-8487-C7FAFF78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4864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A aprovação precisa sobreviver a branch, squash e mudança de ambiente.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E17B72-C0B7-4DB9-AA3A-70CAE7B2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867C1F-D28A-46E2-A94D-EB7ED97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2 · PROVAS, CORREÇÕES E APRENDIZADOS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C84A48-F32C-4BB3-A3DF-75749D23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73034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itle-O piloto começa pelo">
            <a:extLst xmlns:a="http://schemas.openxmlformats.org/drawingml/2006/main">
              <a:ext uri="{FF2B5EF4-FFF2-40B4-BE49-F238E27FC236}">
                <a16:creationId xmlns:a16="http://schemas.microsoft.com/office/drawing/2014/main" id="{74D1B299-E152-4FE8-8A7C-5DB9E4E4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O piloto começa pelo conhecimento verificável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9824C-D0AF-4E2F-B57F-6BA0FC88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6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185BE-9E56-47B2-B894-9829AE88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81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RECOMENDAÇÃO PARA APLICAÇÃO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FAAF1-AF52-4CE5-B569-2412C681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Antes de assumir destino, cronograma ou janela de produção, financiar inventário e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5A3BC-9986-464C-AC38-B2D0553F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4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6E57D-F769-4DD8-8662-C27A3D64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DAB90-F722-491B-8532-E7A95D5D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71650"/>
            <a:ext cx="252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Enquadrar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2EF6F-9296-4B9B-8D42-B0014A4E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Selecionar piloto e responsáveis de negócio, aplicação, plataforma, DBA e segurança.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82539-7344-4103-8CC7-8EC750B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90775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85097-9120-408E-A65C-0C55F5B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64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5EF7-752F-45FC-8A55-C7DF16DA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28746-A6E5-490A-807F-5BB94730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95550"/>
            <a:ext cx="252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Inventariar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8785B-9DD3-44DD-BDEB-40310D5E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860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Mapear artefato, runtime, dependências, configurações, dados, integrações e requisitos operacionais.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D13AD-ECB0-49C7-9AE5-CEE398F9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3AC76-130F-49D1-BECD-DD0E191B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64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E2260-20BA-4D6F-89BA-0C5C91BA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3C7A6-89DC-4304-A882-6F77229E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252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Construir o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C6DC9-7837-42BF-8965-C31F3FA0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Reproduzir o legado e congelar contratos dos fluxos críticos no banco oficial.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8A8BD-476B-4139-B23B-110AF8CB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38575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EC516-6836-4504-80E0-A6D3E816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64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1A4CF-1121-47B2-8B6F-42B46851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5CFA53-1408-4D85-9619-BA673688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52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Desenhar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EEF80-6067-478E-9A9B-9D3940E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Separar JVM, servidor, dependências, Jakarta e os riscos específicos encontrados.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C84CA-8E9D-40DC-94F4-8E54AB6B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A87E52-9A9C-49E8-9AA2-EB59683C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64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6E488-9FFF-40A2-ACC7-6CFB12BD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5A4A1-6764-48A7-A3A8-F4A8D30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252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Qualificar e implantar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3F7A4-2027-48EA-8D20-A2C78152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57725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Executar trilha portátil, banco oficial, segurança, observabilidade, ensaio de corte e rollback.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D4E38-C0B1-4924-937B-BCC370B3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86375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465E2-6A31-4926-AF5A-9D7EA14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D84F64-9DD2-4706-93D6-362DA58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C75670-3BA4-4304-B994-A765299F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PRIMEIRO COMPROMISSO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4C0C55-9353-4951-864C-D227D16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Produzir um diagnóstico confiável — não migrar tudo antes de conhecer o ponto de partida.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8E6964-6ECF-4BCF-8EBA-F9DFAD94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E6697C-D00B-4A7E-AC65-9DD96690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3 · APLICAÇÃO REAL E DECISÃO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9ED454-7EEC-41CB-9FF7-2CAD9C9E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00642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ada gate precisa en">
            <a:extLst xmlns:a="http://schemas.openxmlformats.org/drawingml/2006/main">
              <a:ext uri="{FF2B5EF4-FFF2-40B4-BE49-F238E27FC236}">
                <a16:creationId xmlns:a16="http://schemas.microsoft.com/office/drawing/2014/main" id="{4F712D63-6B4E-418D-AB3A-CA6D564C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Cada gate precisa encerrar com uma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86516-54B2-437A-8C5B-8BA0C1B8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6A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154F5-B08E-4B07-9ECB-65735949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334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RECOMENDAÇÃO PARA APLICAÇÃO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59527-DA4D-4554-8F09-6B2B77C1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Promover apenas com artefato imutável, comportamento aprovado, ambiente identificado, risco residual aceito e retorno ensaiado.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00050" y="1828800"/>
          <a:ext xmlns:a="http://schemas.openxmlformats.org/drawingml/2006/main" cx="113919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677275"/>
              </a:tblGrid>
              <a:tr h="50074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Entrega mínima para decisão</a:t>
                      </a:r>
                    </a:p>
                  </a:txBody>
                  <a:tcPr marL="66675" marR="66675" marT="57150" marB="57150">
                    <a:solidFill>
                      <a:srgbClr val="0B0C0E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Inventário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Escopo, responsáveis, dependências, integrações, EOL/licenças e riscos classificados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66675" marR="66675" marT="66675" marB="66675"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5EBB"/>
                          </a:solidFill>
                          <a:latin typeface="Arial"/>
                          <a:ea typeface="Arial"/>
                          <a:cs typeface="Arial"/>
                        </a:rPr>
                        <a:t>WAR/checksum, runtime/configuração, contratos e qualificação no banco oficial</a:t>
                      </a:r>
                    </a:p>
                  </a:txBody>
                  <a:tcPr marL="66675" marR="66675" marT="66675" marB="66675">
                    <a:solidFill>
                      <a:srgbClr val="EAF4FF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Ponte de baixo impacto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JVM e servidor isolados, mesmos contratos e plano explícito de saída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Dependências / Jakarta</a:t>
                      </a:r>
                    </a:p>
                  </a:txBody>
                  <a:tcPr marL="66675" marR="66675" marT="66675" marB="66675">
                    <a:solidFill>
                      <a:srgbClr val="F8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Bibliotecas decididas, namespace migrado, WAR auditado e segurança validada</a:t>
                      </a:r>
                    </a:p>
                  </a:txBody>
                  <a:tcPr marL="66675" marR="66675" marT="66675" marB="66675">
                    <a:solidFill>
                      <a:srgbClr val="F8F8F9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JVM final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0C0E"/>
                          </a:solidFill>
                          <a:latin typeface="Arial"/>
                          <a:ea typeface="Arial"/>
                          <a:cs typeface="Arial"/>
                        </a:rPr>
                        <a:t>Toolchain, bytecode, agentes, desempenho e o mesmo WAR qualificado</a:t>
                      </a:r>
                    </a:p>
                  </a:txBody>
                  <a:tcPr marL="66675" marR="66675" marT="66675" marB="66675">
                    <a:solidFill>
                      <a:srgbClr val="FFFFFF"/>
                    </a:solidFill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Corte</a:t>
                      </a:r>
                    </a:p>
                  </a:txBody>
                  <a:tcPr marL="66675" marR="66675" marT="66675" marB="66675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96A00"/>
                          </a:solidFill>
                          <a:latin typeface="Arial"/>
                          <a:ea typeface="Arial"/>
                          <a:cs typeface="Arial"/>
                        </a:rPr>
                        <a:t>Blue/Green, go/no-go, observabilidade, proteção de dados e rollback cronometrado</a:t>
                      </a:r>
                    </a:p>
                  </a:txBody>
                  <a:tcPr marL="66675" marR="66675" marT="66675" marB="66675">
                    <a:solidFill>
                      <a:srgbClr val="FFF4D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255F7-0182-435F-A0F9-F45CA3CC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7F0FF-5EF0-4C7F-9607-9797D6F3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63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4DE58-DA54-4776-B393-28D9193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LIMITAÇÃO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57A86-D276-4796-9053-65C7637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58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Carga, cluster, failover, segurança específica, EAR/EJB/JMS, integrações externas e SQL proprietário exigem gates próprios. O laboratório não define prazo, orçamento nem certifica produção.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50D11-8AB5-48AA-BEF4-B7BEFEB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6E560-D684-4407-AAAF-14BBD3D2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PARTE 3 · APLICAÇÃO REAL E DECISÃO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5B7B2-8464-488D-A2BE-0B4D6ABA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86561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3E2AE-C526-41B6-9D23-D3AD65CB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DECISÃO SOLICITADA À LIDERANÇA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C6AD3-106D-4489-9507-03F2A82B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7B1A6-3E90-4FD0-ADC9-945B4A52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733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Autorizar enquadramento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e baseline do piloto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0852D-F69B-4B36-A3A1-D2633503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Aprovar descoberta antes de aprovar a migração completa.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55737-2829-4F9E-A695-F4280A34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23950"/>
            <a:ext cx="36957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73461-E2F4-437F-8E86-37F28A42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57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4C056-6BBF-4872-BB95-D2AFC020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382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Selecionar uma aplicação piloto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829D2-B379-456C-B8A5-544DDDE7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D44D8-AE41-4B40-B76D-E51DC4CA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574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62B7C-1122-4EC9-9057-4AEAEC72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383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Nomear patrocinador e responsáveis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4E52F-4E1F-4F0E-8CFF-572BC1D8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4C8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80F91-CDAA-4E7F-AC67-114CF5A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575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96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6A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80C19-7F87-4B9A-9C9B-6B796C01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384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Autorizar inventário, ambiente isolado e acesso controlado ao banco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D0DB3-5E3C-4E67-91D8-F72C5F52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3ABBA-7C52-4B7D-9660-03DC2A76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B0315-9C74-4B8E-95E3-E504F95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5EB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5EBB"/>
                </a:solidFill>
                <a:latin typeface="Arial"/>
                <a:ea typeface="Arial"/>
                <a:cs typeface="Arial"/>
              </a:rPr>
              <a:t>PRIMEIRA ENTREGA ESPERADA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4C162-AE02-487D-B5ED-5962E7AE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4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0C0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C0E"/>
                </a:solidFill>
                <a:latin typeface="Arial"/>
                <a:ea typeface="Arial"/>
                <a:cs typeface="Arial"/>
              </a:rPr>
              <a:t>Inventário revisado + baseline reproduzível + mapa de riscos e incompatibilidades + opções de destino e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B31EB-9F11-4E1A-B523-40789F4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C63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C6370"/>
                </a:solidFill>
                <a:latin typeface="Arial"/>
                <a:ea typeface="Arial"/>
                <a:cs typeface="Arial"/>
              </a:rPr>
              <a:t>Sem compromisso prematuro com corte em produção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17288-931D-4A7E-9C5F-013549BE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8A90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A909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21086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2026-08-10T20:49:58.5610000Z</dcterms:created>
  <dcterms:modified xsi:type="dcterms:W3CDTF">2026-08-10T20:49:58.5610000Z</dcterms:modified>
</coreProperties>
</file>